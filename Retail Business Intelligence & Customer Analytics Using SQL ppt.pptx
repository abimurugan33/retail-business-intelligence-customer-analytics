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34"/>
  </p:notesMasterIdLst>
  <p:sldIdLst>
    <p:sldId id="320" r:id="rId5"/>
    <p:sldId id="321" r:id="rId6"/>
    <p:sldId id="322" r:id="rId7"/>
    <p:sldId id="324" r:id="rId8"/>
    <p:sldId id="333" r:id="rId9"/>
    <p:sldId id="338" r:id="rId10"/>
    <p:sldId id="327" r:id="rId11"/>
    <p:sldId id="334" r:id="rId12"/>
    <p:sldId id="335" r:id="rId13"/>
    <p:sldId id="336" r:id="rId14"/>
    <p:sldId id="339" r:id="rId15"/>
    <p:sldId id="337" r:id="rId16"/>
    <p:sldId id="340" r:id="rId17"/>
    <p:sldId id="341" r:id="rId18"/>
    <p:sldId id="342" r:id="rId19"/>
    <p:sldId id="343" r:id="rId20"/>
    <p:sldId id="344" r:id="rId21"/>
    <p:sldId id="345" r:id="rId22"/>
    <p:sldId id="354" r:id="rId23"/>
    <p:sldId id="355" r:id="rId24"/>
    <p:sldId id="346" r:id="rId25"/>
    <p:sldId id="347" r:id="rId26"/>
    <p:sldId id="348" r:id="rId27"/>
    <p:sldId id="349" r:id="rId28"/>
    <p:sldId id="356" r:id="rId29"/>
    <p:sldId id="350" r:id="rId30"/>
    <p:sldId id="351" r:id="rId31"/>
    <p:sldId id="352" r:id="rId32"/>
    <p:sldId id="33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953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B987B-6643-43AA-9B56-509B80CCD0F3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42F3-CDD5-4B19-B3DB-7C5223465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503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EE30E-09C2-7267-0C70-1CED2005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CEF74-9FD9-646E-2ED4-C3CE7027C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155E9-893F-500B-80D4-16A4BD3BC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67DF2-CC54-3C29-1950-DE2D72CA0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22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C1AA-E12D-8D15-862C-BBAC6FD0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5184D-F357-679A-C25C-8973EEDD0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6AAE7-0BBE-A541-72D9-24BC38D94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B609A-3004-5BA3-F86F-9D8A57F73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442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EFA76-1A3D-85B2-B0D1-9B1B9CF9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F9799-EF04-F1F8-DF2D-CC2356B97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6CF59-6891-E42A-AF30-E06898C26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F0E25-89A0-5DBB-3977-085FB1C51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47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9FA3-041B-6631-DF96-9FB2852D4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B71D5-BFE0-91CD-1972-AB98FE8C6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C94FD-24FE-30EA-385B-F0DF34FCA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2E6A4-F04F-D656-1C1C-82505A476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52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6301-CF39-AD4D-ADE1-C35C34D0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99B75-4BB1-064B-A598-0B6D8A5F9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6ED17-82AA-2A47-7DDB-EA208A5EC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06324-6F00-CFB8-C3BB-632F6A53D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541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E75E1-BDBF-98C2-B3CD-F8C9DF580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BBAD0-57C9-940C-885A-FA207D3E3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C42DB-90B3-A879-3045-4E4DF55C4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A8ED9-2C66-D31C-8C74-F77E55B49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153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0192D-DCD9-C0A2-DA56-30A628664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85E07-813D-239D-13BA-E162FDB7E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BE04E-9302-2F8A-ABAB-12BF0E7CD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C4BD1-2703-4457-181C-4B2C5A8A2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579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8355-922E-5653-2C33-2884E6AA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62DD8-A90B-AC2E-9AED-9D2DB8C0C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A5350-FBDD-46E3-9D43-3577E8819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F080B-3B6C-06D0-1E52-4A8CA9D77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40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FE983-2F81-A899-71AA-0792CBB0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13618-7BE7-4311-DEC1-F105A350C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BDB78-5B6E-4CAC-8D08-B50A730EF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2B2E7-D3FF-ACBD-32A4-9C21B3EE7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894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88A9F-3A1F-8540-586C-D9972255C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A8142-1A5B-39FD-7759-8B9C3219C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7CA8D-00F3-2B06-8EFC-FB84B577E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59CB9-BA8F-8B59-F1EC-F1142C231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161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E1647-23D2-8AE6-7021-38B0DF74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1DA59-8343-8E38-D37C-422F9EBF7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69CCC-00EE-833D-DA01-DF227DE57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704D8-78D1-A7D9-7DC7-31DAC31DE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034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DC6B3-22FC-D9EE-5F31-AFCAA7F2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9BF08-0703-7E4F-DBD1-A521FBD30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7168F-472C-3448-6527-F3883BC43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5CF2B-0177-FC29-1316-932E9F95B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793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8C840-9E31-1ABF-7A6D-36AEDC7A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4B3B4-3D1D-6705-72DE-6523DC72E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59BCC-CC2B-7B18-D038-4B8A87C1A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56A30-38AA-88F2-98C3-5B776EE79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638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B96B-0DF8-2E34-16BB-37988F1E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87A5F-EDB6-C12F-07CC-D1B2C0C6D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1E82A-8C08-5EAF-3077-C7338FA86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C8363-52C5-997E-E013-EE84CD7A4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351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B56A-307E-C0D8-69E0-83C40A8B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AB7DC-73AE-DB80-481F-44E7F3372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2FAA5-9E7E-C0E0-79E4-6CDCE4C0C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C6E12-9E3A-EC73-FD21-9F714B70F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469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87D9900-95AD-EC4F-B7E1-959F05210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>
            <a:off x="999081" y="2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600C6AD-400C-F5F8-0A07-09147BFB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7924"/>
          <a:stretch>
            <a:fillRect/>
          </a:stretch>
        </p:blipFill>
        <p:spPr>
          <a:xfrm>
            <a:off x="0" y="191268"/>
            <a:ext cx="2916372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301EBB8-0583-30D5-D5C9-6064F992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b="23302"/>
          <a:stretch>
            <a:fillRect/>
          </a:stretch>
        </p:blipFill>
        <p:spPr>
          <a:xfrm>
            <a:off x="0" y="3632200"/>
            <a:ext cx="3839210" cy="3261166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E425898-E19E-D66B-9FE6-55FE52B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783E0-630B-D6BD-1914-F6A39C573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0801" y="1140460"/>
            <a:ext cx="8001256" cy="5166360"/>
          </a:xfrm>
        </p:spPr>
        <p:txBody>
          <a:bodyPr anchor="ctr"/>
          <a:lstStyle>
            <a:lvl1pPr>
              <a:lnSpc>
                <a:spcPct val="75000"/>
              </a:lnSpc>
              <a:spcBef>
                <a:spcPts val="600"/>
              </a:spcBef>
              <a:spcAft>
                <a:spcPts val="1200"/>
              </a:spcAft>
              <a:defRPr sz="7200" baseline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109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7" y="1091885"/>
            <a:ext cx="5130734" cy="5048973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8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4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800" b="0"/>
            </a:lvl4pPr>
            <a:lvl5pPr marL="2057400" indent="-2286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1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7472374" cy="1913892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6723" y="3152220"/>
            <a:ext cx="6977077" cy="326401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D50F62-7F43-2FBB-55E3-23F6293970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9100" y="1096963"/>
            <a:ext cx="4152900" cy="5761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4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18A9A4E-F149-44F8-9FAE-8ABA2BD26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 flipV="1">
            <a:off x="1881504" y="4663441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44170C3-9FB6-324B-DD88-972B181F5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956" r="-1"/>
          <a:stretch/>
        </p:blipFill>
        <p:spPr>
          <a:xfrm flipH="1">
            <a:off x="10185174" y="1234440"/>
            <a:ext cx="2024907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091CD0-1D83-5BBE-A26C-2D7EAF858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t="-1" b="51667"/>
          <a:stretch/>
        </p:blipFill>
        <p:spPr>
          <a:xfrm flipV="1">
            <a:off x="0" y="-1"/>
            <a:ext cx="3839210" cy="2055127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5" y="1097237"/>
            <a:ext cx="11076631" cy="2885630"/>
          </a:xfrm>
        </p:spPr>
        <p:txBody>
          <a:bodyPr lIns="0" rIns="0"/>
          <a:lstStyle>
            <a:lvl1pPr>
              <a:defRPr sz="72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05300" y="4059067"/>
            <a:ext cx="7338056" cy="26922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5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6" y="1091885"/>
            <a:ext cx="5273043" cy="5056747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11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65" y="3870960"/>
            <a:ext cx="11533835" cy="2941320"/>
          </a:xfrm>
        </p:spPr>
        <p:txBody>
          <a:bodyPr lIns="0" tIns="0" rIns="0" bIns="0" anchor="ctr"/>
          <a:lstStyle>
            <a:lvl1pPr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defRPr sz="720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506222-0BCA-9701-399C-0CF92FA231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112500" cy="37719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9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+ Cont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F0DABCC-5F7F-4B44-B780-46F5D46079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433638"/>
            <a:ext cx="5821363" cy="39671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7926" y="2433005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1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6726" y="2392441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67472" y="2392441"/>
            <a:ext cx="5303523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4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345663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01538" y="2392441"/>
            <a:ext cx="6969458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2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94358" y="2417765"/>
            <a:ext cx="6680202" cy="3967795"/>
          </a:xfrm>
        </p:spPr>
        <p:txBody>
          <a:bodyPr lIns="45720"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740664" indent="-283464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7823200" y="2417763"/>
            <a:ext cx="3838248" cy="3967794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2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66724" y="2417763"/>
            <a:ext cx="11094724" cy="39677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8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697707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5773" y="2392440"/>
            <a:ext cx="3655675" cy="396779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7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19982B1-35C2-DE4A-CC6C-C7EF3864F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1330D7F-AB80-0985-7B65-80D66CC84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1653" b="49194"/>
          <a:stretch>
            <a:fillRect/>
          </a:stretch>
        </p:blipFill>
        <p:spPr>
          <a:xfrm>
            <a:off x="10095411" y="4663440"/>
            <a:ext cx="2121988" cy="2229926"/>
          </a:xfrm>
          <a:custGeom>
            <a:avLst/>
            <a:gdLst>
              <a:gd name="connsiteX0" fmla="*/ 0 w 2121988"/>
              <a:gd name="connsiteY0" fmla="*/ 0 h 2229926"/>
              <a:gd name="connsiteX1" fmla="*/ 2121988 w 2121988"/>
              <a:gd name="connsiteY1" fmla="*/ 0 h 2229926"/>
              <a:gd name="connsiteX2" fmla="*/ 2121988 w 2121988"/>
              <a:gd name="connsiteY2" fmla="*/ 2229926 h 2229926"/>
              <a:gd name="connsiteX3" fmla="*/ 0 w 2121988"/>
              <a:gd name="connsiteY3" fmla="*/ 2229926 h 222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988" h="2229926">
                <a:moveTo>
                  <a:pt x="0" y="0"/>
                </a:moveTo>
                <a:lnTo>
                  <a:pt x="2121988" y="0"/>
                </a:lnTo>
                <a:lnTo>
                  <a:pt x="2121988" y="2229926"/>
                </a:lnTo>
                <a:lnTo>
                  <a:pt x="0" y="2229926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55AA66F-C4B1-E34A-8E6B-F893310B2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000"/>
          <a:stretch>
            <a:fillRect/>
          </a:stretch>
        </p:blipFill>
        <p:spPr>
          <a:xfrm>
            <a:off x="6228080" y="2"/>
            <a:ext cx="4046220" cy="2194559"/>
          </a:xfrm>
          <a:custGeom>
            <a:avLst/>
            <a:gdLst>
              <a:gd name="connsiteX0" fmla="*/ 0 w 4046220"/>
              <a:gd name="connsiteY0" fmla="*/ 0 h 2194559"/>
              <a:gd name="connsiteX1" fmla="*/ 4046220 w 4046220"/>
              <a:gd name="connsiteY1" fmla="*/ 0 h 2194559"/>
              <a:gd name="connsiteX2" fmla="*/ 4046220 w 4046220"/>
              <a:gd name="connsiteY2" fmla="*/ 2194559 h 2194559"/>
              <a:gd name="connsiteX3" fmla="*/ 0 w 40462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2194559">
                <a:moveTo>
                  <a:pt x="0" y="0"/>
                </a:moveTo>
                <a:lnTo>
                  <a:pt x="4046220" y="0"/>
                </a:lnTo>
                <a:lnTo>
                  <a:pt x="40462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5700ADD-BC9D-410F-D6AC-1D0E4F104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00" b="30164"/>
          <a:stretch>
            <a:fillRect/>
          </a:stretch>
        </p:blipFill>
        <p:spPr>
          <a:xfrm>
            <a:off x="0" y="3923964"/>
            <a:ext cx="2194560" cy="2969402"/>
          </a:xfrm>
          <a:custGeom>
            <a:avLst/>
            <a:gdLst>
              <a:gd name="connsiteX0" fmla="*/ 0 w 2194560"/>
              <a:gd name="connsiteY0" fmla="*/ 0 h 2969402"/>
              <a:gd name="connsiteX1" fmla="*/ 2194560 w 2194560"/>
              <a:gd name="connsiteY1" fmla="*/ 0 h 2969402"/>
              <a:gd name="connsiteX2" fmla="*/ 2194560 w 2194560"/>
              <a:gd name="connsiteY2" fmla="*/ 2969402 h 2969402"/>
              <a:gd name="connsiteX3" fmla="*/ 0 w 2194560"/>
              <a:gd name="connsiteY3" fmla="*/ 2969402 h 296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2969402">
                <a:moveTo>
                  <a:pt x="0" y="0"/>
                </a:moveTo>
                <a:lnTo>
                  <a:pt x="2194560" y="0"/>
                </a:lnTo>
                <a:lnTo>
                  <a:pt x="2194560" y="2969402"/>
                </a:lnTo>
                <a:lnTo>
                  <a:pt x="0" y="2969402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091067-F6AB-B1C8-2F06-423B82E6E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807" y="1049447"/>
            <a:ext cx="5910270" cy="5094386"/>
          </a:xfrm>
        </p:spPr>
        <p:txBody>
          <a:bodyPr rIns="0" anchor="ctr"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4F7BB3-A204-D529-DD36-39D4311F354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5077" y="1049447"/>
            <a:ext cx="4922837" cy="509438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2800" b="0"/>
            </a:lvl1pPr>
            <a:lvl2pPr>
              <a:lnSpc>
                <a:spcPct val="100000"/>
              </a:lnSpc>
              <a:spcBef>
                <a:spcPts val="1000"/>
              </a:spcBef>
              <a:defRPr sz="2400" b="0"/>
            </a:lvl2pPr>
            <a:lvl3pPr>
              <a:lnSpc>
                <a:spcPct val="100000"/>
              </a:lnSpc>
              <a:spcBef>
                <a:spcPts val="1000"/>
              </a:spcBef>
              <a:defRPr sz="2000" b="0"/>
            </a:lvl3pPr>
            <a:lvl4pPr>
              <a:lnSpc>
                <a:spcPct val="100000"/>
              </a:lnSpc>
              <a:spcBef>
                <a:spcPts val="1000"/>
              </a:spcBef>
              <a:defRPr sz="1800" b="0"/>
            </a:lvl4pPr>
            <a:lvl5pPr>
              <a:lnSpc>
                <a:spcPct val="100000"/>
              </a:lnSpc>
              <a:spcBef>
                <a:spcPts val="1000"/>
              </a:spcBef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433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806" y="1432518"/>
            <a:ext cx="7958331" cy="22376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1808" y="3696004"/>
            <a:ext cx="7796540" cy="2379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88E8CDA-4B53-1285-4909-D3A5FB6B3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3671" y="459077"/>
            <a:ext cx="2267211" cy="480363"/>
          </a:xfrm>
          <a:prstGeom prst="rect">
            <a:avLst/>
          </a:prstGeom>
        </p:spPr>
        <p:txBody>
          <a:bodyPr vert="horz" lIns="0" tIns="0" rIns="91440" bIns="18288" rtlCol="0" anchor="ctr"/>
          <a:lstStyle>
            <a:lvl1pPr algn="l">
              <a:defRPr sz="12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0A2341-0273-5256-69F5-7D63AFB93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9025" y="459081"/>
            <a:ext cx="789138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40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7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000" b="1" i="0" kern="1200" cap="none" spc="-300">
          <a:solidFill>
            <a:schemeClr val="bg1"/>
          </a:solidFill>
          <a:effectLst/>
          <a:latin typeface="+mj-lt"/>
          <a:ea typeface="+mj-ea"/>
          <a:cs typeface="Kalinga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20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8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6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4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2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BDD8-0A72-E913-2448-3BA8443C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801" y="1140460"/>
            <a:ext cx="8001256" cy="51663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800" dirty="0"/>
              <a:t>Retail Business Intelligence &amp; Customer Analytics Using SQL</a:t>
            </a:r>
          </a:p>
        </p:txBody>
      </p:sp>
    </p:spTree>
    <p:extLst>
      <p:ext uri="{BB962C8B-B14F-4D97-AF65-F5344CB8AC3E}">
        <p14:creationId xmlns:p14="http://schemas.microsoft.com/office/powerpoint/2010/main" val="181794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4B515DA-B5BA-1D54-0138-5A9DBF40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5011113" cy="504897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010E8-1DAC-D1A8-367B-24A839DD6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1E1C258-AF5E-ED50-CD59-2A56B80D36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70317" y="1091885"/>
            <a:ext cx="5130734" cy="5048973"/>
          </a:xfrm>
        </p:spPr>
        <p:txBody>
          <a:bodyPr/>
          <a:lstStyle/>
          <a:p>
            <a:r>
              <a:rPr lang="en-US" dirty="0"/>
              <a:t>Data Table description</a:t>
            </a:r>
          </a:p>
          <a:p>
            <a:r>
              <a:rPr lang="en-US" dirty="0"/>
              <a:t>Goal &amp; focus</a:t>
            </a:r>
          </a:p>
          <a:p>
            <a:r>
              <a:rPr lang="en-US" dirty="0"/>
              <a:t>Process conducted</a:t>
            </a:r>
          </a:p>
          <a:p>
            <a:r>
              <a:rPr lang="en-US" dirty="0"/>
              <a:t>Segment based analysis</a:t>
            </a:r>
          </a:p>
        </p:txBody>
      </p:sp>
    </p:spTree>
    <p:extLst>
      <p:ext uri="{BB962C8B-B14F-4D97-AF65-F5344CB8AC3E}">
        <p14:creationId xmlns:p14="http://schemas.microsoft.com/office/powerpoint/2010/main" val="208136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383005-6806-C93D-146B-7170E753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7472374" cy="652904"/>
          </a:xfrm>
        </p:spPr>
        <p:txBody>
          <a:bodyPr/>
          <a:lstStyle/>
          <a:p>
            <a:r>
              <a:rPr lang="en-US" dirty="0"/>
              <a:t>Data Table Description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FD055C-9390-5B99-3A56-16D5ABAC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866128-22F3-97E1-E322-94B23C649A9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843842"/>
            <a:ext cx="6070048" cy="4842093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Customer Table</a:t>
            </a:r>
          </a:p>
          <a:p>
            <a:r>
              <a:rPr lang="en-US" sz="1600" dirty="0"/>
              <a:t>Customer details(</a:t>
            </a:r>
            <a:r>
              <a:rPr lang="en-US" sz="1600" dirty="0" err="1"/>
              <a:t>customer_id,name,city,state,join_date</a:t>
            </a:r>
            <a:r>
              <a:rPr lang="en-US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Products Table</a:t>
            </a:r>
          </a:p>
          <a:p>
            <a:r>
              <a:rPr lang="en-US" sz="1600" dirty="0"/>
              <a:t>Product details(</a:t>
            </a:r>
            <a:r>
              <a:rPr lang="en-US" sz="1600" dirty="0" err="1"/>
              <a:t>product_id,name,category,brand,price</a:t>
            </a:r>
            <a:r>
              <a:rPr lang="en-US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Orders Table</a:t>
            </a:r>
          </a:p>
          <a:p>
            <a:r>
              <a:rPr lang="en-US" sz="1600" dirty="0"/>
              <a:t>Customer order details(</a:t>
            </a:r>
            <a:r>
              <a:rPr lang="en-US" sz="1600" dirty="0" err="1"/>
              <a:t>order_id,date,status</a:t>
            </a:r>
            <a:r>
              <a:rPr lang="en-US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 err="1"/>
              <a:t>Order_items</a:t>
            </a:r>
            <a:r>
              <a:rPr lang="en-US" sz="1600" b="1" dirty="0"/>
              <a:t> Table</a:t>
            </a:r>
          </a:p>
          <a:p>
            <a:r>
              <a:rPr lang="en-US" sz="1600" dirty="0"/>
              <a:t>Products detail(</a:t>
            </a:r>
            <a:r>
              <a:rPr lang="en-US" sz="1600" dirty="0" err="1"/>
              <a:t>product_id,unit_price,quantity</a:t>
            </a:r>
            <a:r>
              <a:rPr lang="en-US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 err="1"/>
              <a:t>Sales_target</a:t>
            </a:r>
            <a:r>
              <a:rPr lang="en-US" sz="1600" b="1" dirty="0"/>
              <a:t> Table</a:t>
            </a:r>
          </a:p>
          <a:p>
            <a:r>
              <a:rPr lang="en-US" sz="1600" dirty="0"/>
              <a:t>Sales details(</a:t>
            </a:r>
            <a:r>
              <a:rPr lang="en-US" sz="1600" dirty="0" err="1"/>
              <a:t>year,month,target_sales</a:t>
            </a:r>
            <a:r>
              <a:rPr lang="en-US" sz="16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5841B4-351A-E8B0-99AD-4D90E2E52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902" y="791373"/>
            <a:ext cx="3307326" cy="139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0867C2-8BEE-940D-0B5A-71557AC63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902" y="2252187"/>
            <a:ext cx="3307326" cy="13098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AA8BC1-E119-4A3C-8213-0932A788F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902" y="3665960"/>
            <a:ext cx="3307326" cy="1422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3CA7C0-869B-9F46-2625-175D7DD152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902" y="5192805"/>
            <a:ext cx="3307326" cy="139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0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4DBB48-AF5E-026A-949B-C357D48C6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559" y="997689"/>
            <a:ext cx="4142925" cy="623407"/>
          </a:xfrm>
        </p:spPr>
        <p:txBody>
          <a:bodyPr/>
          <a:lstStyle/>
          <a:p>
            <a:r>
              <a:rPr lang="en-US" dirty="0"/>
              <a:t>Goal &amp; Focus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FC455B-1010-EB0E-D061-D2BD100E3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8FE5E3-3C37-61C3-5736-CE540189A7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17756" y="2625497"/>
            <a:ext cx="8632721" cy="983226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To analyze customer purchasing behavior, product performance, and revenue trends using SQL by transforming raw transactional data into meaningful business insights.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A70A8-AA4A-66D7-4236-62386FD7209D}"/>
              </a:ext>
            </a:extLst>
          </p:cNvPr>
          <p:cNvSpPr txBox="1"/>
          <p:nvPr/>
        </p:nvSpPr>
        <p:spPr>
          <a:xfrm>
            <a:off x="576559" y="1896400"/>
            <a:ext cx="3913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Project Goal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D3103-7F47-6484-6485-1B47FFF20055}"/>
              </a:ext>
            </a:extLst>
          </p:cNvPr>
          <p:cNvSpPr txBox="1"/>
          <p:nvPr/>
        </p:nvSpPr>
        <p:spPr>
          <a:xfrm>
            <a:off x="576558" y="3753045"/>
            <a:ext cx="3913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Key Focus Areas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40BA1-0412-A18B-6873-3F9B862DB095}"/>
              </a:ext>
            </a:extLst>
          </p:cNvPr>
          <p:cNvSpPr txBox="1"/>
          <p:nvPr/>
        </p:nvSpPr>
        <p:spPr>
          <a:xfrm>
            <a:off x="816076" y="4374414"/>
            <a:ext cx="9526803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Sales performance analysis (revenue, monthly trends, state-wise performance)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Customer behavior analysis (RFM analysis, inactive customers, purchase patterns)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Product insights (top-selling products, frequently bought together items, brand/category performance)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92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B071-61A4-A4C3-277A-A2F63555E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E02E40-8A68-5E42-92FE-4B3F60A7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558" y="889129"/>
            <a:ext cx="5745583" cy="623407"/>
          </a:xfrm>
        </p:spPr>
        <p:txBody>
          <a:bodyPr/>
          <a:lstStyle/>
          <a:p>
            <a:r>
              <a:rPr lang="en-US" dirty="0"/>
              <a:t>Process Conducted : 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37C14-FE47-D836-36A4-DFFC5F215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1C0AE0-F1D5-F15F-9F20-B8252169F7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10158" y="2194439"/>
            <a:ext cx="9292139" cy="46166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Initial schema review of 5 core tables ( customer, order, </a:t>
            </a:r>
            <a:r>
              <a:rPr lang="en-US" sz="1600" dirty="0" err="1"/>
              <a:t>order_items</a:t>
            </a:r>
            <a:r>
              <a:rPr lang="en-US" sz="1600" dirty="0"/>
              <a:t>, customers ,</a:t>
            </a:r>
            <a:r>
              <a:rPr lang="en-US" sz="1600" dirty="0" err="1"/>
              <a:t>sales_target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51A3B-D9BB-7570-E89D-FE3DF45C2BBC}"/>
              </a:ext>
            </a:extLst>
          </p:cNvPr>
          <p:cNvSpPr txBox="1"/>
          <p:nvPr/>
        </p:nvSpPr>
        <p:spPr>
          <a:xfrm>
            <a:off x="1164720" y="1664549"/>
            <a:ext cx="4803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</a:rPr>
              <a:t>Data Acquisition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ADD806-DD51-1F1B-937D-6C4CE25FCDCC}"/>
              </a:ext>
            </a:extLst>
          </p:cNvPr>
          <p:cNvSpPr txBox="1"/>
          <p:nvPr/>
        </p:nvSpPr>
        <p:spPr>
          <a:xfrm>
            <a:off x="1164720" y="2757572"/>
            <a:ext cx="7035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2.  Data cleaning &amp; validation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0C1E7-5060-786B-D919-96FB71DE7DB3}"/>
              </a:ext>
            </a:extLst>
          </p:cNvPr>
          <p:cNvSpPr txBox="1"/>
          <p:nvPr/>
        </p:nvSpPr>
        <p:spPr>
          <a:xfrm>
            <a:off x="1558739" y="3219237"/>
            <a:ext cx="952680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bg1"/>
                </a:solidFill>
              </a:rPr>
              <a:t>Confirmed NO NULL values in primary/critical columns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bg1"/>
                </a:solidFill>
              </a:rPr>
              <a:t>Confirmed NO DUPLICATE rows across all primary keys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5D453-253D-3C38-EEFE-723CD0A587FC}"/>
              </a:ext>
            </a:extLst>
          </p:cNvPr>
          <p:cNvSpPr txBox="1"/>
          <p:nvPr/>
        </p:nvSpPr>
        <p:spPr>
          <a:xfrm>
            <a:off x="1164720" y="4208206"/>
            <a:ext cx="8195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3.  Analysis &amp; Transformation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35814-CB89-C461-D70D-FE9D07C0D351}"/>
              </a:ext>
            </a:extLst>
          </p:cNvPr>
          <p:cNvSpPr txBox="1"/>
          <p:nvPr/>
        </p:nvSpPr>
        <p:spPr>
          <a:xfrm>
            <a:off x="1465006" y="4768542"/>
            <a:ext cx="9920750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Used JOINS to link order, category, customer and sales target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Employed windows functions(RANK,LAG) for comparative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</a:rPr>
              <a:t>Applied aggregative function like </a:t>
            </a:r>
            <a:r>
              <a:rPr lang="en-IN" dirty="0" err="1">
                <a:solidFill>
                  <a:schemeClr val="bg1"/>
                </a:solidFill>
              </a:rPr>
              <a:t>Sum,average,count</a:t>
            </a:r>
            <a:r>
              <a:rPr lang="en-IN" dirty="0">
                <a:solidFill>
                  <a:schemeClr val="bg1"/>
                </a:solidFill>
              </a:rPr>
              <a:t> for key metrics like </a:t>
            </a:r>
            <a:r>
              <a:rPr lang="en-IN" dirty="0" err="1">
                <a:solidFill>
                  <a:schemeClr val="bg1"/>
                </a:solidFill>
              </a:rPr>
              <a:t>revenue,sales</a:t>
            </a:r>
            <a:r>
              <a:rPr lang="en-IN" dirty="0">
                <a:solidFill>
                  <a:schemeClr val="bg1"/>
                </a:solidFill>
              </a:rPr>
              <a:t> etc</a:t>
            </a:r>
          </a:p>
        </p:txBody>
      </p:sp>
    </p:spTree>
    <p:extLst>
      <p:ext uri="{BB962C8B-B14F-4D97-AF65-F5344CB8AC3E}">
        <p14:creationId xmlns:p14="http://schemas.microsoft.com/office/powerpoint/2010/main" val="192407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A28B8-D2ED-7F0D-C6C2-A53F3582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8D6C0-FDEF-C339-74FA-0CDE4ADD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801" y="1140460"/>
            <a:ext cx="8001256" cy="51663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800" dirty="0"/>
              <a:t>Date and Time based Analysis</a:t>
            </a:r>
          </a:p>
        </p:txBody>
      </p:sp>
    </p:spTree>
    <p:extLst>
      <p:ext uri="{BB962C8B-B14F-4D97-AF65-F5344CB8AC3E}">
        <p14:creationId xmlns:p14="http://schemas.microsoft.com/office/powerpoint/2010/main" val="643265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F6A38F-2E54-B8C3-32D6-B82FBE55A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9"/>
            <a:ext cx="11094723" cy="731562"/>
          </a:xfrm>
        </p:spPr>
        <p:txBody>
          <a:bodyPr/>
          <a:lstStyle/>
          <a:p>
            <a:r>
              <a:rPr lang="en-US" sz="3600" dirty="0"/>
              <a:t>1. Monthly Sales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D3F4C-B10B-EE9D-B346-6E8645698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4B7F8C-A503-C0DC-4B99-38C09455A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6" y="1828801"/>
            <a:ext cx="5231153" cy="27404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255187-8340-2539-6486-A1892488A560}"/>
              </a:ext>
            </a:extLst>
          </p:cNvPr>
          <p:cNvSpPr txBox="1"/>
          <p:nvPr/>
        </p:nvSpPr>
        <p:spPr>
          <a:xfrm>
            <a:off x="566726" y="4944663"/>
            <a:ext cx="1035691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Month 11 shows the highest revenue and order volume, indicating peak sales performance.</a:t>
            </a:r>
          </a:p>
          <a:p>
            <a:r>
              <a:rPr lang="en-US" dirty="0">
                <a:solidFill>
                  <a:schemeClr val="bg1"/>
                </a:solidFill>
              </a:rPr>
              <a:t>     Month 6 has the highest average order value, highlighting the impact of high-value purchases.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1CCD9C8F-C2E7-6D75-1572-3A2E1571669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7344697" y="1738938"/>
            <a:ext cx="3814915" cy="292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63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FD0D2-A02D-2633-A3E4-38DD61D7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A414B-9DD4-4C6B-743E-E4FDCDAA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18156"/>
            <a:ext cx="11094723" cy="480364"/>
          </a:xfrm>
        </p:spPr>
        <p:txBody>
          <a:bodyPr/>
          <a:lstStyle/>
          <a:p>
            <a:r>
              <a:rPr lang="en-US" sz="3600" dirty="0"/>
              <a:t>2. Sales Trends by Day, Week, Month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8F236-9353-95D9-2FA2-AD130029B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8B0FC9-7982-CB64-DAB0-CE0323F802AE}"/>
              </a:ext>
            </a:extLst>
          </p:cNvPr>
          <p:cNvSpPr txBox="1"/>
          <p:nvPr/>
        </p:nvSpPr>
        <p:spPr>
          <a:xfrm>
            <a:off x="566726" y="4944663"/>
            <a:ext cx="10356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Week 1 shows consistently higher revenue across most weekdays, indicating strong sales performance at the beginning of the month.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1B13A9-AD02-9769-3F1F-36F4FB667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69" y="1783870"/>
            <a:ext cx="3893435" cy="29201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796287-E3E2-2A4A-3816-4652AD585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672" y="1617144"/>
            <a:ext cx="3800967" cy="320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22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A6589-0F31-8CBF-FD1F-EF49F242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ED6DCE-57AD-9A48-FF5D-DA5053F46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094723" cy="563154"/>
          </a:xfrm>
        </p:spPr>
        <p:txBody>
          <a:bodyPr/>
          <a:lstStyle/>
          <a:p>
            <a:r>
              <a:rPr lang="en-US" sz="3600" dirty="0"/>
              <a:t>3. Top 3 Brands per Year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D9EEB-1E93-B370-7811-32C1B2912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DCEF02-882E-FA7A-D836-FE5AC5ADE203}"/>
              </a:ext>
            </a:extLst>
          </p:cNvPr>
          <p:cNvSpPr txBox="1"/>
          <p:nvPr/>
        </p:nvSpPr>
        <p:spPr>
          <a:xfrm>
            <a:off x="566726" y="4944663"/>
            <a:ext cx="1035691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In 2023, </a:t>
            </a:r>
            <a:r>
              <a:rPr lang="en-US" dirty="0" err="1">
                <a:solidFill>
                  <a:schemeClr val="bg1"/>
                </a:solidFill>
              </a:rPr>
              <a:t>BrandB</a:t>
            </a:r>
            <a:r>
              <a:rPr lang="en-US" dirty="0">
                <a:solidFill>
                  <a:schemeClr val="bg1"/>
                </a:solidFill>
              </a:rPr>
              <a:t> generated the highest revenue, ranking first among all brands.</a:t>
            </a:r>
          </a:p>
          <a:p>
            <a:r>
              <a:rPr lang="en-US" dirty="0">
                <a:solidFill>
                  <a:schemeClr val="bg1"/>
                </a:solidFill>
              </a:rPr>
              <a:t>     </a:t>
            </a:r>
            <a:r>
              <a:rPr lang="en-US" dirty="0" err="1">
                <a:solidFill>
                  <a:schemeClr val="bg1"/>
                </a:solidFill>
              </a:rPr>
              <a:t>BrandC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 err="1">
                <a:solidFill>
                  <a:schemeClr val="bg1"/>
                </a:solidFill>
              </a:rPr>
              <a:t>BrandD</a:t>
            </a:r>
            <a:r>
              <a:rPr lang="en-US" dirty="0">
                <a:solidFill>
                  <a:schemeClr val="bg1"/>
                </a:solidFill>
              </a:rPr>
              <a:t> followed in second and third positions, showing competitive but lower performance compared to </a:t>
            </a:r>
            <a:r>
              <a:rPr lang="en-US" dirty="0" err="1">
                <a:solidFill>
                  <a:schemeClr val="bg1"/>
                </a:solidFill>
              </a:rPr>
              <a:t>BrandB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E16C7-CDF0-DABD-D46C-E27391F6A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82" y="1660810"/>
            <a:ext cx="4353533" cy="3010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EA640A-B06C-D6E0-DAD0-252565DF0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164" y="2355051"/>
            <a:ext cx="4079475" cy="147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02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A93-845F-B4E2-8717-75EA09F5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9865D2-2692-1FB9-DEEE-DB28C185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094723" cy="563154"/>
          </a:xfrm>
        </p:spPr>
        <p:txBody>
          <a:bodyPr/>
          <a:lstStyle/>
          <a:p>
            <a:r>
              <a:rPr lang="en-US" sz="3600" dirty="0"/>
              <a:t>4. What is the peak shopping time?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06A9D-796E-7995-AD69-8B521A8DB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3AA7D3-70B6-6C28-892C-4FE78D4D8F57}"/>
              </a:ext>
            </a:extLst>
          </p:cNvPr>
          <p:cNvSpPr txBox="1"/>
          <p:nvPr/>
        </p:nvSpPr>
        <p:spPr>
          <a:xfrm>
            <a:off x="566726" y="4944663"/>
            <a:ext cx="1035691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Saturday records the highest total orders and revenue, making it the strongest sales day of the week.</a:t>
            </a:r>
          </a:p>
          <a:p>
            <a:r>
              <a:rPr lang="en-US" dirty="0">
                <a:solidFill>
                  <a:schemeClr val="bg1"/>
                </a:solidFill>
              </a:rPr>
              <a:t>     Thursday shows the lowest performance, indicating weaker customer activity compared to other weekdays.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F9F9D-D3D4-6ED8-8A9F-6FCE40B39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02" y="1925371"/>
            <a:ext cx="4591691" cy="2464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FC2DCA-0769-3DF2-244F-76544070D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579" y="2241756"/>
            <a:ext cx="3057952" cy="191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666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D6A06-9A74-6062-A7C9-0EFA4341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6C5EE-535F-BD6A-1632-4E7E1C4F8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801" y="1140460"/>
            <a:ext cx="8001256" cy="51663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800" dirty="0"/>
              <a:t>State – wise sales </a:t>
            </a:r>
            <a:br>
              <a:rPr lang="en-US" sz="4800" dirty="0"/>
            </a:br>
            <a:r>
              <a:rPr lang="en-US" sz="48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748057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2246-C9D2-7064-33D2-1ED40323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D7FD35-1219-7F5D-A0FE-624A7C44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094723" cy="563154"/>
          </a:xfrm>
        </p:spPr>
        <p:txBody>
          <a:bodyPr/>
          <a:lstStyle/>
          <a:p>
            <a:r>
              <a:rPr lang="en-US" sz="3200" dirty="0"/>
              <a:t>1. Top-Selling Category by State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94CEF-36BF-59F6-029D-36E537AA6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FF214-BDEF-B01F-4C03-0F98AE5E5A76}"/>
              </a:ext>
            </a:extLst>
          </p:cNvPr>
          <p:cNvSpPr txBox="1"/>
          <p:nvPr/>
        </p:nvSpPr>
        <p:spPr>
          <a:xfrm>
            <a:off x="566726" y="5012526"/>
            <a:ext cx="1035691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Sports category ranks first in most states (DL, KA, TN), showing consistently strong performance across regions.</a:t>
            </a:r>
          </a:p>
          <a:p>
            <a:r>
              <a:rPr lang="en-US" dirty="0">
                <a:solidFill>
                  <a:schemeClr val="bg1"/>
                </a:solidFill>
              </a:rPr>
              <a:t>     In MH, Fashion leads revenue, highlighting regional variation in customer preferences by state.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8C7716-107D-2097-BFDA-3D321580F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5" y="1605272"/>
            <a:ext cx="3824780" cy="318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76ED87-5D1D-6ABA-E453-FC223C0A0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163" y="1458114"/>
            <a:ext cx="3588855" cy="348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0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D8F00-06AB-DB33-F356-FFF83AF9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EC81A4-ED0D-66D4-0EB3-A0148D749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094723" cy="451017"/>
          </a:xfrm>
        </p:spPr>
        <p:txBody>
          <a:bodyPr/>
          <a:lstStyle/>
          <a:p>
            <a:r>
              <a:rPr lang="en-US" sz="3200" dirty="0"/>
              <a:t>2. State-wise Customer Segmentation 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F2D9A-0933-E6BB-7A28-F10039486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C81AB4-41F4-77FC-4FE6-943E1439618F}"/>
              </a:ext>
            </a:extLst>
          </p:cNvPr>
          <p:cNvSpPr txBox="1"/>
          <p:nvPr/>
        </p:nvSpPr>
        <p:spPr>
          <a:xfrm>
            <a:off x="566726" y="5012526"/>
            <a:ext cx="1035691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MH has the highest total revenue (₹12,03,124) and customer count (50), with Fashion as its top category.</a:t>
            </a:r>
          </a:p>
          <a:p>
            <a:r>
              <a:rPr lang="en-US" dirty="0">
                <a:solidFill>
                  <a:schemeClr val="bg1"/>
                </a:solidFill>
              </a:rPr>
              <a:t>     Most other states (DL, TN, TS, KA) show Sports as the top category, while WB has the lowest revenue and average order value among the listed states.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914691-B5D3-6148-10CE-9AA66DDC04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9" t="790" r="333"/>
          <a:stretch>
            <a:fillRect/>
          </a:stretch>
        </p:blipFill>
        <p:spPr>
          <a:xfrm>
            <a:off x="698089" y="1582994"/>
            <a:ext cx="5250427" cy="33616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354984-F271-ACAD-277F-795FDAF6A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430" y="2312321"/>
            <a:ext cx="5058481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76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CFD2E-927A-A641-1EE5-2310DF42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B68E8F-882F-AF5C-44E2-10B61C98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458126" cy="788644"/>
          </a:xfrm>
        </p:spPr>
        <p:txBody>
          <a:bodyPr/>
          <a:lstStyle/>
          <a:p>
            <a:r>
              <a:rPr lang="en-US" sz="3200" dirty="0"/>
              <a:t>3. </a:t>
            </a:r>
            <a:r>
              <a:rPr lang="en-US" sz="2800" dirty="0"/>
              <a:t>Which regions are underperforming despite having many customers?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DF299-700A-3A99-7444-FF77E0BF7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A09300-A381-FEE1-5230-00D5F1B498A1}"/>
              </a:ext>
            </a:extLst>
          </p:cNvPr>
          <p:cNvSpPr txBox="1"/>
          <p:nvPr/>
        </p:nvSpPr>
        <p:spPr>
          <a:xfrm>
            <a:off x="566726" y="5137356"/>
            <a:ext cx="103569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MH has the highest total revenue, while TN has the highest revenue per customer.</a:t>
            </a:r>
          </a:p>
          <a:p>
            <a:r>
              <a:rPr lang="en-US" dirty="0">
                <a:solidFill>
                  <a:schemeClr val="bg1"/>
                </a:solidFill>
              </a:rPr>
              <a:t>     WB records the lowest revenue per customer, and all regions show Normal performance.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87D107-C45D-2D66-9DD1-AF8B09E93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95" y="1851899"/>
            <a:ext cx="5614994" cy="3029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73652F-5721-79BF-D500-03FAC6B43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942" y="2528935"/>
            <a:ext cx="4984955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55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01C70-A1AC-9F67-56CF-4A046BFA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94D3B-791E-A141-DE56-D97D18B4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801" y="1140460"/>
            <a:ext cx="8001256" cy="51663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800" dirty="0"/>
              <a:t>Sales based Analysis</a:t>
            </a:r>
          </a:p>
        </p:txBody>
      </p:sp>
    </p:spTree>
    <p:extLst>
      <p:ext uri="{BB962C8B-B14F-4D97-AF65-F5344CB8AC3E}">
        <p14:creationId xmlns:p14="http://schemas.microsoft.com/office/powerpoint/2010/main" val="3602592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C9CF3-1564-37C4-E354-D2E652BC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4657B6-E8A1-73EB-1F21-3CB92083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458126" cy="618503"/>
          </a:xfrm>
        </p:spPr>
        <p:txBody>
          <a:bodyPr/>
          <a:lstStyle/>
          <a:p>
            <a:r>
              <a:rPr lang="en-US" sz="3200" dirty="0"/>
              <a:t>1. </a:t>
            </a:r>
            <a:r>
              <a:rPr lang="en-US" sz="2800" dirty="0"/>
              <a:t>Category Profitability Analysis :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70E75-E029-C026-533D-0803FC266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4C4B1E-F08E-8095-5F72-2B46CC7B7934}"/>
              </a:ext>
            </a:extLst>
          </p:cNvPr>
          <p:cNvSpPr txBox="1"/>
          <p:nvPr/>
        </p:nvSpPr>
        <p:spPr>
          <a:xfrm>
            <a:off x="566726" y="5050330"/>
            <a:ext cx="103569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Sports generates the highest revenue and profit, followed by Fashion.</a:t>
            </a:r>
          </a:p>
          <a:p>
            <a:r>
              <a:rPr lang="en-US" dirty="0">
                <a:solidFill>
                  <a:schemeClr val="bg1"/>
                </a:solidFill>
              </a:rPr>
              <a:t>     All categories maintain a consistent 30% profit margin.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6C240F-40A0-C496-CDB6-47E85E379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21" y="1550504"/>
            <a:ext cx="4753638" cy="331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95F754-FF68-640B-B11A-F846EF81C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241" y="2395586"/>
            <a:ext cx="5039428" cy="177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95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420C-79B1-BC13-1F42-A29D60089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26AA6B-007A-42DE-47E0-FA4E529C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458126" cy="618503"/>
          </a:xfrm>
        </p:spPr>
        <p:txBody>
          <a:bodyPr/>
          <a:lstStyle/>
          <a:p>
            <a:r>
              <a:rPr lang="en-US" sz="3200" dirty="0"/>
              <a:t>2. </a:t>
            </a:r>
            <a:r>
              <a:rPr lang="en-US" sz="2800" dirty="0"/>
              <a:t>Which 20% of products bring 80% revenue :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A2752-E916-AA48-2C5E-88118FCE5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B9095-140E-0D53-C908-BB6FF757A004}"/>
              </a:ext>
            </a:extLst>
          </p:cNvPr>
          <p:cNvSpPr txBox="1"/>
          <p:nvPr/>
        </p:nvSpPr>
        <p:spPr>
          <a:xfrm>
            <a:off x="566726" y="5012526"/>
            <a:ext cx="1035691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Product_183 generates the highest revenue, contributing 1.84% individually.</a:t>
            </a:r>
          </a:p>
          <a:p>
            <a:r>
              <a:rPr lang="en-US" dirty="0">
                <a:solidFill>
                  <a:schemeClr val="bg1"/>
                </a:solidFill>
              </a:rPr>
              <a:t>     The top listed products together contribute nearly 24% of total revenue, showing a strong concentration among leading items.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7FF3C7-0E10-302F-2962-592C73DA7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16" y="1845474"/>
            <a:ext cx="4833439" cy="27435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EF470A-A9DB-80E0-055D-A3DFAD8FD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687" y="1703656"/>
            <a:ext cx="5805520" cy="302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99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3BD4-6945-67B0-B424-9A23F741D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F1B82D-9D66-6C29-7707-32B979362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458126" cy="618503"/>
          </a:xfrm>
        </p:spPr>
        <p:txBody>
          <a:bodyPr/>
          <a:lstStyle/>
          <a:p>
            <a:r>
              <a:rPr lang="en-US" sz="3200" dirty="0"/>
              <a:t>3. </a:t>
            </a:r>
            <a:r>
              <a:rPr lang="en-US" sz="2800" dirty="0"/>
              <a:t>RFM Analysis (Recency, Frequency, Monetary) :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54715-2590-E0D5-ADC9-1E1B431D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B0BAF8-C117-02EF-06AC-D3570F8264D3}"/>
              </a:ext>
            </a:extLst>
          </p:cNvPr>
          <p:cNvSpPr txBox="1"/>
          <p:nvPr/>
        </p:nvSpPr>
        <p:spPr>
          <a:xfrm>
            <a:off x="566726" y="5012526"/>
            <a:ext cx="1035691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</a:t>
            </a:r>
            <a:r>
              <a:rPr lang="en-US" sz="1700" dirty="0">
                <a:solidFill>
                  <a:schemeClr val="bg1"/>
                </a:solidFill>
              </a:rPr>
              <a:t>All listed customers have purchased only once (frequency = 1), indicating low repeat engagement.</a:t>
            </a:r>
          </a:p>
          <a:p>
            <a:r>
              <a:rPr lang="en-US" sz="1700" dirty="0">
                <a:solidFill>
                  <a:schemeClr val="bg1"/>
                </a:solidFill>
              </a:rPr>
              <a:t>    Customer 42 shows the highest monetary value but with very high recency (364 days), suggesting a high-value yet inactive customer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B8087-F113-0639-39D7-2AA613CEF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19" y="1550504"/>
            <a:ext cx="3952568" cy="33165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05D1CE-08E6-2DDE-6FA4-1662733B3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085" y="1619331"/>
            <a:ext cx="3724795" cy="346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45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AF925-A7BD-4938-9E20-54ABE4BA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4DC4FD-CA44-8AA9-1B3A-CD523BDA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458126" cy="618503"/>
          </a:xfrm>
        </p:spPr>
        <p:txBody>
          <a:bodyPr/>
          <a:lstStyle/>
          <a:p>
            <a:r>
              <a:rPr lang="en-US" sz="3200" dirty="0"/>
              <a:t>4. </a:t>
            </a:r>
            <a:r>
              <a:rPr lang="en-US" sz="2800" dirty="0"/>
              <a:t>Are we hitting sales targets?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4415C-C656-1A7C-D4E4-C21883C1F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CAC2B5-4506-F9CB-EF41-FDEE2FC8AB2F}"/>
              </a:ext>
            </a:extLst>
          </p:cNvPr>
          <p:cNvSpPr txBox="1"/>
          <p:nvPr/>
        </p:nvSpPr>
        <p:spPr>
          <a:xfrm>
            <a:off x="566726" y="5012526"/>
            <a:ext cx="1035691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sz="1700" dirty="0">
                <a:solidFill>
                  <a:schemeClr val="bg1"/>
                </a:solidFill>
              </a:rPr>
              <a:t>     In 2023, performance fluctuated significantly, with strong overachievement in months like November (457%) and major shortfalls in June and December.</a:t>
            </a:r>
          </a:p>
          <a:p>
            <a:r>
              <a:rPr lang="en-US" sz="1700" dirty="0">
                <a:solidFill>
                  <a:schemeClr val="bg1"/>
                </a:solidFill>
              </a:rPr>
              <a:t>     In 2024, no revenue has been recorded so far, resulting in 0% achievement across all months.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B01D17-DA8A-57D8-04B3-AC4AE13F0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001" y="1550504"/>
            <a:ext cx="5294809" cy="33140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1E9804-93C9-C334-5C03-D4360004E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085" y="1459068"/>
            <a:ext cx="5007189" cy="347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1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D89E-03AB-A4DF-2097-2504740D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7620-3334-A931-1BBF-395AB26A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801" y="1140460"/>
            <a:ext cx="8001256" cy="51663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800" dirty="0"/>
              <a:t>Customer based Analysis</a:t>
            </a:r>
          </a:p>
        </p:txBody>
      </p:sp>
    </p:spTree>
    <p:extLst>
      <p:ext uri="{BB962C8B-B14F-4D97-AF65-F5344CB8AC3E}">
        <p14:creationId xmlns:p14="http://schemas.microsoft.com/office/powerpoint/2010/main" val="266719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FA973-6C23-07D3-8359-D55CF9E1A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1943CB-0B2A-0B7A-9673-53DF1F57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458126" cy="618503"/>
          </a:xfrm>
        </p:spPr>
        <p:txBody>
          <a:bodyPr/>
          <a:lstStyle/>
          <a:p>
            <a:r>
              <a:rPr lang="en-US" sz="3200" dirty="0"/>
              <a:t>1. </a:t>
            </a:r>
            <a:r>
              <a:rPr lang="en-US" sz="2800" dirty="0"/>
              <a:t>Which customers are most likely to reorder?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B2525-869D-193E-1633-CE66D59A2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726F77-F4E3-B349-93FC-E1991BCB0476}"/>
              </a:ext>
            </a:extLst>
          </p:cNvPr>
          <p:cNvSpPr txBox="1"/>
          <p:nvPr/>
        </p:nvSpPr>
        <p:spPr>
          <a:xfrm>
            <a:off x="566726" y="5130513"/>
            <a:ext cx="1068811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</a:t>
            </a:r>
            <a:r>
              <a:rPr lang="en-US" sz="1700" dirty="0">
                <a:solidFill>
                  <a:schemeClr val="bg1"/>
                </a:solidFill>
              </a:rPr>
              <a:t>Customer_226 has the highest purchase frequency (4), while Customer_12 generates the highest monetary value (₹1,07,454).</a:t>
            </a:r>
          </a:p>
          <a:p>
            <a:r>
              <a:rPr lang="en-US" sz="1700" dirty="0">
                <a:solidFill>
                  <a:schemeClr val="bg1"/>
                </a:solidFill>
              </a:rPr>
              <a:t>      However, all customers show very high recency values (800+ days), indicating they are currently inactive.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5D9FC-23FD-DBA6-79FA-EF3CDBFB5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44" y="1511716"/>
            <a:ext cx="4639530" cy="3373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588A74-8B53-7B6D-6B4D-C4E38BE72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949" y="1550504"/>
            <a:ext cx="4117567" cy="320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40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ADC7-19E8-F1E4-1A98-378853CE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170E8C-0FB3-20F3-AD48-45BB1576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458126" cy="618503"/>
          </a:xfrm>
        </p:spPr>
        <p:txBody>
          <a:bodyPr/>
          <a:lstStyle/>
          <a:p>
            <a:r>
              <a:rPr lang="en-US" sz="3200" dirty="0"/>
              <a:t>2. </a:t>
            </a:r>
            <a:r>
              <a:rPr lang="en-US" sz="2800" dirty="0"/>
              <a:t>Top 10 Highest Spending Customers (LTV)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D2601-C24F-36A5-9FF8-A18BEC3FB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D5D2C-C774-47D8-10F3-0BA6709819C5}"/>
              </a:ext>
            </a:extLst>
          </p:cNvPr>
          <p:cNvSpPr txBox="1"/>
          <p:nvPr/>
        </p:nvSpPr>
        <p:spPr>
          <a:xfrm>
            <a:off x="566726" y="5012526"/>
            <a:ext cx="103569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 Customer 227 is the highest spender with ₹1,16,862, significantly leading the list.</a:t>
            </a:r>
          </a:p>
          <a:p>
            <a:r>
              <a:rPr lang="en-US" dirty="0">
                <a:solidFill>
                  <a:schemeClr val="bg1"/>
                </a:solidFill>
              </a:rPr>
              <a:t>      The remaining top customers show relatively close spending levels between ₹65K–₹86K.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5D093-1899-0E5F-5836-FFE765860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76" y="2098038"/>
            <a:ext cx="5428924" cy="19528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29D7C3-9E19-AEB6-1DFA-20ED1B9E0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297" y="1959325"/>
            <a:ext cx="2785583" cy="240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79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831D5-9A07-5CC3-B435-99ADD4896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1E895C-863D-94C6-7AD4-65C9A054E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1"/>
            <a:ext cx="11458126" cy="618503"/>
          </a:xfrm>
        </p:spPr>
        <p:txBody>
          <a:bodyPr/>
          <a:lstStyle/>
          <a:p>
            <a:r>
              <a:rPr lang="en-US" sz="3200" dirty="0"/>
              <a:t>3. </a:t>
            </a:r>
            <a:r>
              <a:rPr lang="en-US" sz="2800" dirty="0"/>
              <a:t>Identify Customers Inactive for 90+ Days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D0334-9708-A749-7B7D-5244A0579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F773D6-EDD1-284B-ED34-EF5CD2934927}"/>
              </a:ext>
            </a:extLst>
          </p:cNvPr>
          <p:cNvSpPr txBox="1"/>
          <p:nvPr/>
        </p:nvSpPr>
        <p:spPr>
          <a:xfrm>
            <a:off x="566726" y="5012526"/>
            <a:ext cx="1035691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</a:t>
            </a:r>
            <a:r>
              <a:rPr lang="en-US" sz="1700" dirty="0">
                <a:solidFill>
                  <a:schemeClr val="bg1"/>
                </a:solidFill>
              </a:rPr>
              <a:t>These customers have been inactive for over 1,080 days, with their last orders placed in early 2023.</a:t>
            </a:r>
          </a:p>
          <a:p>
            <a:r>
              <a:rPr lang="en-US" sz="1700" dirty="0">
                <a:solidFill>
                  <a:schemeClr val="bg1"/>
                </a:solidFill>
              </a:rPr>
              <a:t>     Customer 44 shows the highest inactivity (1,143 days), indicating a strong need for re-engagement strategies.</a:t>
            </a:r>
          </a:p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103DA5-5C13-AB58-DF59-EA8CF2C47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18" y="2049429"/>
            <a:ext cx="4934639" cy="1952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D51F83-B88E-F1AD-B2FF-106B12532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260" y="1412365"/>
            <a:ext cx="3296110" cy="343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81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B6BD4-4EB1-7CB8-7CA1-27A64F48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3A12EC-B19A-2C0E-E2FE-B45900283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2"/>
            <a:ext cx="11458126" cy="480364"/>
          </a:xfrm>
        </p:spPr>
        <p:txBody>
          <a:bodyPr/>
          <a:lstStyle/>
          <a:p>
            <a:r>
              <a:rPr lang="en-US" sz="3200" dirty="0"/>
              <a:t>4. </a:t>
            </a:r>
            <a:r>
              <a:rPr lang="en-US" sz="2800" dirty="0"/>
              <a:t>How much revenue comes from repeat vs new customers?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9DB43-038E-7FCF-794A-57E487A1F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DA231-BE05-5D47-9E9B-7CA27727FB63}"/>
              </a:ext>
            </a:extLst>
          </p:cNvPr>
          <p:cNvSpPr txBox="1"/>
          <p:nvPr/>
        </p:nvSpPr>
        <p:spPr>
          <a:xfrm>
            <a:off x="566726" y="5321562"/>
            <a:ext cx="10356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New customers contributed higher revenue compared to repeat customers.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BD14F8-977F-CE36-3D43-B4A463EC6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021" y="1536438"/>
            <a:ext cx="3963204" cy="33520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6101DD-F58C-FF80-EE73-80BDD23EB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493" y="2438916"/>
            <a:ext cx="2751062" cy="119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92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ADB91-49C7-3471-19D8-9423D4BD8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3097-986A-E44F-C77A-3C5AF1EC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801" y="1140460"/>
            <a:ext cx="8001256" cy="51663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800" dirty="0"/>
              <a:t>Product based Analysis</a:t>
            </a:r>
          </a:p>
        </p:txBody>
      </p:sp>
    </p:spTree>
    <p:extLst>
      <p:ext uri="{BB962C8B-B14F-4D97-AF65-F5344CB8AC3E}">
        <p14:creationId xmlns:p14="http://schemas.microsoft.com/office/powerpoint/2010/main" val="924108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5379E-CFCE-A5BD-1868-4B81B59F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4A764C-2B63-C18F-0128-F1E58B15A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2"/>
            <a:ext cx="11458126" cy="480364"/>
          </a:xfrm>
        </p:spPr>
        <p:txBody>
          <a:bodyPr/>
          <a:lstStyle/>
          <a:p>
            <a:r>
              <a:rPr lang="en-US" sz="3200" dirty="0"/>
              <a:t>1. </a:t>
            </a:r>
            <a:r>
              <a:rPr lang="en-US" sz="2800" dirty="0"/>
              <a:t>Which products get returned the most?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6FC1E-6763-87A3-27FF-FB6DE75A6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DFD4C-2934-10D4-BC20-2F8EFDFFB5CC}"/>
              </a:ext>
            </a:extLst>
          </p:cNvPr>
          <p:cNvSpPr txBox="1"/>
          <p:nvPr/>
        </p:nvSpPr>
        <p:spPr>
          <a:xfrm>
            <a:off x="566726" y="5160010"/>
            <a:ext cx="103569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Many products have a 100% return rate, meaning all sold units were returned.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Only a few products show slightly lower return rates, but returns are still high overall.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7F5D14-F90A-2025-585E-DA54BD8D3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52" y="1549443"/>
            <a:ext cx="4105848" cy="33260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05DFF1-76BF-6048-8157-1A18FEE93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640" y="1578680"/>
            <a:ext cx="5764444" cy="329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47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01A7-2E6B-878E-1820-045247E4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1F38BD-AA41-0169-91E7-3CF441A34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2"/>
            <a:ext cx="11458126" cy="480364"/>
          </a:xfrm>
        </p:spPr>
        <p:txBody>
          <a:bodyPr/>
          <a:lstStyle/>
          <a:p>
            <a:r>
              <a:rPr lang="en-US" sz="3200" dirty="0"/>
              <a:t>2. </a:t>
            </a:r>
            <a:r>
              <a:rPr lang="en-US" sz="2800" dirty="0"/>
              <a:t>Product Performance Dashboard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DF56B-AD85-2DAC-4C73-6AD665554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EB281C-88DA-0C53-7662-1E5AED1CE104}"/>
              </a:ext>
            </a:extLst>
          </p:cNvPr>
          <p:cNvSpPr txBox="1"/>
          <p:nvPr/>
        </p:nvSpPr>
        <p:spPr>
          <a:xfrm>
            <a:off x="566726" y="5048013"/>
            <a:ext cx="103569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Some products generate high revenue with very few units sold due to a high average selling price.</a:t>
            </a:r>
          </a:p>
          <a:p>
            <a:r>
              <a:rPr lang="en-US" dirty="0">
                <a:solidFill>
                  <a:schemeClr val="bg1"/>
                </a:solidFill>
              </a:rPr>
              <a:t>     Each product has only one unique customer, indicating no repeat purchases in this data.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ED6428-BFF6-0797-AD58-DF8D4D409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494" y="1469128"/>
            <a:ext cx="5627195" cy="32995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3C9AF8-1629-450C-E6FF-3315D696D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60" y="1827043"/>
            <a:ext cx="4895089" cy="27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07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3F0E3-BA41-5341-3190-43098EFE1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9806D8-6B68-EA9F-2FA8-300B009F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932002"/>
            <a:ext cx="11458126" cy="480364"/>
          </a:xfrm>
        </p:spPr>
        <p:txBody>
          <a:bodyPr/>
          <a:lstStyle/>
          <a:p>
            <a:r>
              <a:rPr lang="en-US" sz="3200" dirty="0"/>
              <a:t>3. </a:t>
            </a:r>
            <a:r>
              <a:rPr lang="en-US" sz="2800" dirty="0"/>
              <a:t>Frequently Bought Together Products 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FBF1B-53B8-9683-2D9D-5C73A1BF1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17448A-1BAD-CE62-01C5-2163A642261F}"/>
              </a:ext>
            </a:extLst>
          </p:cNvPr>
          <p:cNvSpPr txBox="1"/>
          <p:nvPr/>
        </p:nvSpPr>
        <p:spPr>
          <a:xfrm>
            <a:off x="566726" y="5124422"/>
            <a:ext cx="103569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 :</a:t>
            </a:r>
          </a:p>
          <a:p>
            <a:r>
              <a:rPr lang="en-US" dirty="0">
                <a:solidFill>
                  <a:schemeClr val="bg1"/>
                </a:solidFill>
              </a:rPr>
              <a:t>     Most product pairs were bought together only once, showing weak association between items.</a:t>
            </a:r>
          </a:p>
          <a:p>
            <a:r>
              <a:rPr lang="en-US" dirty="0">
                <a:solidFill>
                  <a:schemeClr val="bg1"/>
                </a:solidFill>
              </a:rPr>
              <a:t>     Only Product_154 and Product_183 were purchased together more than once.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6F65B2-17F4-0F0A-54B7-4BAC51177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10" y="1533699"/>
            <a:ext cx="3640157" cy="33574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98C4F0-F1BA-BC94-F376-46E4C51D8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21" y="1435785"/>
            <a:ext cx="3810532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36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D60B-8B19-52A7-BC83-3566A4C8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07" y="1049447"/>
            <a:ext cx="5910270" cy="509438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15912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D29"/>
      </a:dk2>
      <a:lt2>
        <a:srgbClr val="E6B32E"/>
      </a:lt2>
      <a:accent1>
        <a:srgbClr val="9F9CD8"/>
      </a:accent1>
      <a:accent2>
        <a:srgbClr val="ED95A2"/>
      </a:accent2>
      <a:accent3>
        <a:srgbClr val="8BB9E1"/>
      </a:accent3>
      <a:accent4>
        <a:srgbClr val="C33F51"/>
      </a:accent4>
      <a:accent5>
        <a:srgbClr val="004048"/>
      </a:accent5>
      <a:accent6>
        <a:srgbClr val="8EC0C1"/>
      </a:accent6>
      <a:hlink>
        <a:srgbClr val="6D9D9B"/>
      </a:hlink>
      <a:folHlink>
        <a:srgbClr val="6D8583"/>
      </a:folHlink>
    </a:clrScheme>
    <a:fontScheme name="Custom 116">
      <a:majorFont>
        <a:latin typeface="Kalinga"/>
        <a:ea typeface=""/>
        <a:cs typeface=""/>
      </a:majorFont>
      <a:minorFont>
        <a:latin typeface="Kalinga"/>
        <a:ea typeface=""/>
        <a:cs typeface="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9" id="{1C1685F1-2AF6-4AF8-B809-5763D0E52941}" vid="{50BDB98F-F06A-48E8-BE85-F709AAFF09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FBC208-84B5-4BA7-8306-5BDC2F8CE1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F058098-9A21-440B-BD1E-02659AABD2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46E38-3E45-40EB-917C-6C82B8DF19A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Pastels Presentation</Template>
  <TotalTime>834</TotalTime>
  <Words>1168</Words>
  <Application>Microsoft Office PowerPoint</Application>
  <PresentationFormat>Widescreen</PresentationFormat>
  <Paragraphs>148</Paragraphs>
  <Slides>29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Kalinga</vt:lpstr>
      <vt:lpstr>Wingdings</vt:lpstr>
      <vt:lpstr>Madison</vt:lpstr>
      <vt:lpstr>Retail Business Intelligence &amp; Customer Analytics Using SQL</vt:lpstr>
      <vt:lpstr>agenda</vt:lpstr>
      <vt:lpstr>Data Table Description</vt:lpstr>
      <vt:lpstr>Goal &amp; Focus </vt:lpstr>
      <vt:lpstr>Process Conducted :  </vt:lpstr>
      <vt:lpstr>Date and Time based Analysis</vt:lpstr>
      <vt:lpstr>1. Monthly Sales Report</vt:lpstr>
      <vt:lpstr>2. Sales Trends by Day, Week, Month</vt:lpstr>
      <vt:lpstr>3. Top 3 Brands per Year</vt:lpstr>
      <vt:lpstr>4. What is the peak shopping time?</vt:lpstr>
      <vt:lpstr>State – wise sales  Analysis</vt:lpstr>
      <vt:lpstr>1. Top-Selling Category by State </vt:lpstr>
      <vt:lpstr>2. State-wise Customer Segmentation Dashboard</vt:lpstr>
      <vt:lpstr>3. Which regions are underperforming despite having many customers?</vt:lpstr>
      <vt:lpstr>Sales based Analysis</vt:lpstr>
      <vt:lpstr>1. Category Profitability Analysis :</vt:lpstr>
      <vt:lpstr>2. Which 20% of products bring 80% revenue :</vt:lpstr>
      <vt:lpstr>3. RFM Analysis (Recency, Frequency, Monetary) :</vt:lpstr>
      <vt:lpstr>4. Are we hitting sales targets?</vt:lpstr>
      <vt:lpstr>Customer based Analysis</vt:lpstr>
      <vt:lpstr>1. Which customers are most likely to reorder?</vt:lpstr>
      <vt:lpstr>2. Top 10 Highest Spending Customers (LTV)</vt:lpstr>
      <vt:lpstr>3. Identify Customers Inactive for 90+ Days</vt:lpstr>
      <vt:lpstr>4. How much revenue comes from repeat vs new customers?</vt:lpstr>
      <vt:lpstr>Product based Analysis</vt:lpstr>
      <vt:lpstr>1. Which products get returned the most?</vt:lpstr>
      <vt:lpstr>2. Product Performance Dashboard</vt:lpstr>
      <vt:lpstr>3. Frequently Bought Together Products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 murugan</dc:creator>
  <cp:lastModifiedBy>abi murugan</cp:lastModifiedBy>
  <cp:revision>5</cp:revision>
  <dcterms:created xsi:type="dcterms:W3CDTF">2026-02-17T13:09:08Z</dcterms:created>
  <dcterms:modified xsi:type="dcterms:W3CDTF">2026-02-21T05:13:24Z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